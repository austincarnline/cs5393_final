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42" r:id="rId5"/>
    <p:sldId id="359" r:id="rId6"/>
    <p:sldId id="373" r:id="rId7"/>
    <p:sldId id="382" r:id="rId8"/>
    <p:sldId id="383" r:id="rId9"/>
    <p:sldId id="384" r:id="rId10"/>
    <p:sldId id="385" r:id="rId11"/>
    <p:sldId id="386" r:id="rId12"/>
    <p:sldId id="388" r:id="rId13"/>
    <p:sldId id="389" r:id="rId14"/>
    <p:sldId id="390" r:id="rId15"/>
    <p:sldId id="391" r:id="rId16"/>
    <p:sldId id="392" r:id="rId17"/>
    <p:sldId id="393" r:id="rId18"/>
    <p:sldId id="397" r:id="rId19"/>
    <p:sldId id="398" r:id="rId20"/>
    <p:sldId id="395" r:id="rId21"/>
    <p:sldId id="396" r:id="rId22"/>
    <p:sldId id="394" r:id="rId23"/>
    <p:sldId id="399" r:id="rId24"/>
    <p:sldId id="400" r:id="rId25"/>
    <p:sldId id="402" r:id="rId26"/>
    <p:sldId id="403" r:id="rId27"/>
    <p:sldId id="401" r:id="rId28"/>
    <p:sldId id="37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11EA29-736D-6307-F786-653A3E53EBF8}" v="2487" dt="2025-05-01T09:53:38.318"/>
  </p1510:revLst>
</p1510:revInfo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3" autoAdjust="0"/>
    <p:restoredTop sz="95388" autoAdjust="0"/>
  </p:normalViewPr>
  <p:slideViewPr>
    <p:cSldViewPr snapToGrid="0" snapToObjects="1" showGuides="1">
      <p:cViewPr>
        <p:scale>
          <a:sx n="100" d="100"/>
          <a:sy n="100" d="100"/>
        </p:scale>
        <p:origin x="58" y="-4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06138-8B11-EE6C-37F7-2167E7076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F826D-5B31-A3E6-5B2D-2E18D43BE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473A9-4ED4-5F3A-5603-1EE38147B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FF084-4A20-9540-A4D9-7368FFC09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764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8AEE7-B372-309E-0CD6-43D1F9C2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85D23-48DD-73DC-BFA3-88F12178E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04ADFC-7664-744B-740A-D56010A5A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7F3D0-155C-6A88-DC1E-5EAC1798F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589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52A4D-E15B-B5E6-65B9-508DDE1B1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69161-5473-34F8-C2A7-58B37FBBA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0F186-DA10-B1BA-D77F-D523F2323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09E83-876A-B18C-CFC8-8FAB0451B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249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91F1F-7063-2B19-4834-507FC5D08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FB5BAA-C328-2822-99B4-6FD803B54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8C4C3-E577-19ED-7EF5-3AF4FB497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AA9DC-35E0-90CF-A261-29C516456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99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B81C9-81F1-672C-F5F7-AF94E0850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1B1CC-BE96-C129-2F86-223B6AF09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2051F-788C-28DC-AFC9-C4D7698C7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48DAF-EB67-9124-0F73-5D00AB739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040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8D208-89A5-C0D8-8564-38C9B9D91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45BF5-BCA5-BD5B-F74A-ED87384AD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A5214-CC9F-A88A-D29F-612916705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AFE9C-EC76-0CE9-8F8B-F4A1185F1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02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BA6C3-CC3C-8E98-C46F-6D9119EEE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B2FA1C-067F-6C92-D697-65D298787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2117A-5D91-D108-11D0-046F64E41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F23E7-63C8-B0AD-DDE0-16B02EEED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203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E59E1-7975-8A9E-45FA-B6971410B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269F7-FBD1-A048-344E-0C6CA72BE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C1A08-4DEA-3B9E-D7CD-BAE5DD36B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C6774-E7BE-9381-534E-B0A42AEBE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647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A6F9D-CA41-4F04-8C11-3DB6C11F8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E4339-5744-756F-7A29-387DF5015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8BB17-73C5-B7A6-A3C0-94989B902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0CABD-BF06-F9B6-7AFE-EABD92D86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937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44349-A0F8-3063-F052-866413C51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F38B1-90F5-FC63-6222-23B0BDCE8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1B412-A1E3-FAA0-238C-4F78DC7CB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2D482-0769-658D-4432-B4DD97031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228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ACA2-F1C6-34F1-B2D4-B7A36C99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D43660-97E2-1419-F826-6E08562F8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DB863-0526-5DC2-0C76-1921BFE27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0842F-DB20-34CD-56D7-1F8CCD0418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836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C3180-E8D5-3016-AAFC-BBCF31BC2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1F9320-0FDD-B41D-7158-361FEDF31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A27-41DC-AE74-DA2D-EA052FDC2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15934-39F7-0A00-3A9B-8F1784049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426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DFCB8-B38D-191F-FA1C-0682DECF2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1AB7C-B7AE-7784-86E1-AAF2AA4ED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52519-D141-A903-E462-A88C39E3F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9E77C-CA7C-613B-3977-389C5ED6A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519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9C42A-5305-9ACC-3B8E-94EECFC40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C0D07-CA66-B5C3-810C-8A66BA9CC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757AE-C754-B371-9A73-6769A90D1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8A69B-BFC8-BCB5-B237-BFCBB42AB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6015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E6B27-9836-3453-1C16-3907D283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D0D47-78ED-4D5A-6771-13B62D8A1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423C43-585F-CEBC-3BCE-8722FC8E6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00D6C-5C1F-E9EE-B817-1C62DF0D4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9760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AEEF2-2D77-4A4D-E9AA-4F4951F7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129FF-12D9-9957-36C8-BF9D4ECFF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37854-A73B-2F02-778D-6031CC116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3DACC-4D1A-24F3-C560-95597BF24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4210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00037-CABF-99AA-6897-388A3A9DC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2B80A-0252-740F-BFA6-6838F6D52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A5D9E-CA81-E6E3-F02F-D029C161F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E889A-34B9-2743-C8BA-0D91FF3FD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4231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EBDFB-B7A6-F42E-6A3C-B0FEF2206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17CF6-178C-1319-9CE1-A974CD7BE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C88BF5-8F4F-09BC-4291-F816F0116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41524-4FA1-1228-14FD-BCC0476C4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0522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AF1A9-3D85-EDCA-1CB9-D730625F8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57F53-EF7A-0E1D-E144-EBA8EBFC3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8C7F7-85A9-7A00-1346-734C6AEE4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11582-D36C-81C8-98A7-FD5CD9FEB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4452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647ED-398E-108B-E17B-A72CC913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F2C91D-0CC6-205E-5A0F-58D1CC5D1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ED408-433B-6DE2-0ABD-D2BB4F76C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50659-4ED9-58DD-1F3B-4E1CE1FFB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1922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>
                <a:cs typeface="Biome"/>
              </a:rPr>
              <a:t>CS 5393 Final</a:t>
            </a:r>
            <a:endParaRPr lang="en-US" dirty="0"/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cs typeface="Biome Light"/>
              </a:rPr>
              <a:t>Recurrent Neural Networks and Stock Prediction</a:t>
            </a:r>
            <a:r>
              <a:rPr lang="en-US" dirty="0">
                <a:cs typeface="Biome Light"/>
              </a:rPr>
              <a:t> </a:t>
            </a:r>
            <a:endParaRPr lang="en-US">
              <a:cs typeface="Biome Light"/>
            </a:endParaRP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en-US" dirty="0">
                <a:cs typeface="Biome"/>
              </a:rPr>
              <a:t>Project Overview</a:t>
            </a:r>
            <a:endParaRPr lang="en-US" dirty="0"/>
          </a:p>
          <a:p>
            <a:r>
              <a:rPr lang="en-US" dirty="0">
                <a:cs typeface="Biome"/>
              </a:rPr>
              <a:t>Models: LSTM vs GRU</a:t>
            </a:r>
            <a:endParaRPr lang="en-US" dirty="0"/>
          </a:p>
          <a:p>
            <a:r>
              <a:rPr lang="en-US" dirty="0">
                <a:cs typeface="Biome"/>
              </a:rPr>
              <a:t>Features</a:t>
            </a:r>
          </a:p>
          <a:p>
            <a:r>
              <a:rPr lang="en-US">
                <a:cs typeface="Biome"/>
              </a:rPr>
              <a:t>Activation Functions</a:t>
            </a:r>
            <a:endParaRPr lang="en-US" dirty="0"/>
          </a:p>
          <a:p>
            <a:r>
              <a:rPr lang="en-US" dirty="0">
                <a:cs typeface="Biome"/>
              </a:rPr>
              <a:t>Model Performance and Comparison</a:t>
            </a:r>
            <a:endParaRPr lang="en-US" dirty="0"/>
          </a:p>
          <a:p>
            <a:r>
              <a:rPr lang="en-US" dirty="0">
                <a:cs typeface="Biome"/>
              </a:rPr>
              <a:t>Applications and Key takeaways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662" y="2240762"/>
            <a:ext cx="11562303" cy="238786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cs typeface="Biome Light"/>
              </a:rPr>
              <a:t>Project Overview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5754-4B5A-0373-1169-C17D91DEF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37596-18A4-1715-F23D-0F558E699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>
                <a:cs typeface="Biome"/>
              </a:rPr>
              <a:t>Project Overview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E937A-AE59-7263-23BB-42F93E01E0B3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cs typeface="Biome"/>
              </a:rPr>
              <a:t>In this project, I used recurrent neural networks, or RRNs, to predict NVIDIA stock prices</a:t>
            </a:r>
          </a:p>
          <a:p>
            <a:endParaRPr lang="en-US" dirty="0">
              <a:cs typeface="Biome"/>
            </a:endParaRPr>
          </a:p>
          <a:p>
            <a:r>
              <a:rPr lang="en-US" dirty="0">
                <a:cs typeface="Biome"/>
              </a:rPr>
              <a:t>Each model was given data using </a:t>
            </a:r>
            <a:r>
              <a:rPr lang="en-US" b="1" dirty="0" err="1">
                <a:solidFill>
                  <a:schemeClr val="accent3"/>
                </a:solidFill>
                <a:cs typeface="Biome"/>
              </a:rPr>
              <a:t>yfinance</a:t>
            </a:r>
            <a:r>
              <a:rPr lang="en-US" dirty="0">
                <a:cs typeface="Biome"/>
              </a:rPr>
              <a:t>, an open-source tool that uses Yahoo's API to retrieve stock information</a:t>
            </a:r>
          </a:p>
          <a:p>
            <a:endParaRPr lang="en-US" dirty="0">
              <a:cs typeface="Biome"/>
            </a:endParaRPr>
          </a:p>
          <a:p>
            <a:r>
              <a:rPr lang="en-US" dirty="0">
                <a:cs typeface="Biome"/>
              </a:rPr>
              <a:t>Model performance evaluated using </a:t>
            </a:r>
            <a:r>
              <a:rPr lang="en-US" b="1" dirty="0">
                <a:solidFill>
                  <a:schemeClr val="accent3"/>
                </a:solidFill>
                <a:cs typeface="Biome"/>
              </a:rPr>
              <a:t>Root Mean Squared Error</a:t>
            </a:r>
            <a:r>
              <a:rPr lang="en-US" dirty="0">
                <a:cs typeface="Biome"/>
              </a:rPr>
              <a:t> and </a:t>
            </a:r>
            <a:r>
              <a:rPr lang="en-US" b="1" dirty="0">
                <a:solidFill>
                  <a:schemeClr val="accent3"/>
                </a:solidFill>
                <a:cs typeface="Biome"/>
              </a:rPr>
              <a:t>Mean Absolute Error</a:t>
            </a:r>
            <a:r>
              <a:rPr lang="en-US" dirty="0">
                <a:cs typeface="Biome"/>
              </a:rPr>
              <a:t>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DA3FD9-0292-2E6E-2ACF-848E5D85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69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F48A-68B2-AC7F-E058-06CA62F1D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DF5C0-C76B-CF7B-EBDB-0A57B2C7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>
                <a:cs typeface="Biome"/>
              </a:rPr>
              <a:t>Project Overview: Evaluation Metrics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DD2A671-51D8-EA94-11B6-AEF4F490E77E}"/>
              </a:ext>
            </a:extLst>
          </p:cNvPr>
          <p:cNvGraphicFramePr>
            <a:graphicFrameLocks noGrp="1"/>
          </p:cNvGraphicFramePr>
          <p:nvPr>
            <p:ph sz="quarter" idx="31"/>
            <p:extLst>
              <p:ext uri="{D42A27DB-BD31-4B8C-83A1-F6EECF244321}">
                <p14:modId xmlns:p14="http://schemas.microsoft.com/office/powerpoint/2010/main" val="377106310"/>
              </p:ext>
            </p:extLst>
          </p:nvPr>
        </p:nvGraphicFramePr>
        <p:xfrm>
          <a:off x="3305175" y="2470150"/>
          <a:ext cx="7421562" cy="32969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473854">
                  <a:extLst>
                    <a:ext uri="{9D8B030D-6E8A-4147-A177-3AD203B41FA5}">
                      <a16:colId xmlns:a16="http://schemas.microsoft.com/office/drawing/2014/main" val="3757677032"/>
                    </a:ext>
                  </a:extLst>
                </a:gridCol>
                <a:gridCol w="2473854">
                  <a:extLst>
                    <a:ext uri="{9D8B030D-6E8A-4147-A177-3AD203B41FA5}">
                      <a16:colId xmlns:a16="http://schemas.microsoft.com/office/drawing/2014/main" val="2935365867"/>
                    </a:ext>
                  </a:extLst>
                </a:gridCol>
                <a:gridCol w="2473854">
                  <a:extLst>
                    <a:ext uri="{9D8B030D-6E8A-4147-A177-3AD203B41FA5}">
                      <a16:colId xmlns:a16="http://schemas.microsoft.com/office/drawing/2014/main" val="3541281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it 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Trading Relevance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27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Root Mean Squared Error (RMSE)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/>
                        <a:t>Magnitude of large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Useful for risk management (i.e. preventing catastrophic predictions)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668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Mean Absolute Error (MAE)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dirty="0"/>
                        <a:t>Average prediction error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Tells traders the "expected slippage", or error, of the model when acting on predictions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61612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97FC0A-6E93-3269-12FD-8545FD6A6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95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79D8A-D8DC-840E-1ADC-4900830D5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F7050-A72B-6A86-CF08-B6C6D48E8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>
                <a:cs typeface="Biome"/>
              </a:rPr>
              <a:t>Project Overview: Tools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806684-CFBF-3909-DD34-545A5EAD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068AA8-DE85-5D4A-F9D8-36A1072E3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402" y="2366961"/>
            <a:ext cx="2035629" cy="22873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862350-5B2F-1E37-9BD3-A5BC21DA5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949" y="3799114"/>
            <a:ext cx="5285015" cy="27976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173281-159E-6E85-3A45-A1B13B844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9014" y="2269671"/>
            <a:ext cx="2035629" cy="20791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C027F5-45C3-11A7-D90C-08CE34843C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219" y="4362448"/>
            <a:ext cx="4225018" cy="156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609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0F784-9515-713F-8E7A-7A4129C6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22E17EFE-BF1F-B58B-F201-4E1EB082A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662" y="2240762"/>
            <a:ext cx="11562303" cy="238786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cs typeface="Biome Light"/>
              </a:rPr>
              <a:t>LTSM vs GRU Models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EA8D0D-4B53-FB1B-7BEB-FFFB2600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752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B3037-F641-9416-479D-A2DAB684B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B4AEF-043F-87F8-9AA9-54C900CC2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>
                <a:cs typeface="Biome"/>
              </a:rPr>
              <a:t>LTSM vs GRU Models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8005C-1A83-7748-4F70-A6520708D1B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cs typeface="Biome"/>
              </a:rPr>
              <a:t>In this project, I trained both LSTM (Long Short-Term Memory) and GRU (Generated Recurrent Units) models</a:t>
            </a:r>
          </a:p>
          <a:p>
            <a:endParaRPr lang="en-US" dirty="0">
              <a:cs typeface="Biome"/>
            </a:endParaRPr>
          </a:p>
          <a:p>
            <a:r>
              <a:rPr lang="en-US" dirty="0">
                <a:cs typeface="Biome"/>
              </a:rPr>
              <a:t>Differences in architecture: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Biome"/>
              </a:rPr>
              <a:t>LTSMs have separate memory cell, input, output, and forget gates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Biome"/>
              </a:rPr>
              <a:t>GRUs combine input and forget gates into an update gate, simplifying its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1E7502-7439-56C8-0EDE-D5EDED0C2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491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2F289-4CD9-C6F9-F898-CC32D2251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8C77B-E8FD-1423-33BF-E66CB3780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>
                <a:cs typeface="Biome"/>
              </a:rPr>
              <a:t>LTSM vs GRU Models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37D19-429B-37DF-89CD-DEB5CDB0CEC0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cs typeface="Biome"/>
              </a:rPr>
              <a:t>LTSM RNNs take longer to train and require longer computational times than GRU models</a:t>
            </a:r>
          </a:p>
          <a:p>
            <a:endParaRPr lang="en-US" dirty="0">
              <a:cs typeface="Biome"/>
            </a:endParaRPr>
          </a:p>
          <a:p>
            <a:r>
              <a:rPr lang="en-US" dirty="0">
                <a:cs typeface="Biome"/>
              </a:rPr>
              <a:t>LTSMs can be more effective at handling long-term dependencies than GRUs</a:t>
            </a:r>
          </a:p>
          <a:p>
            <a:endParaRPr lang="en-US" dirty="0">
              <a:cs typeface="Biome"/>
            </a:endParaRPr>
          </a:p>
          <a:p>
            <a:r>
              <a:rPr lang="en-US" dirty="0">
                <a:cs typeface="Biome"/>
              </a:rPr>
              <a:t>Both types of RRNs solve the </a:t>
            </a:r>
            <a:r>
              <a:rPr lang="en-US" dirty="0">
                <a:solidFill>
                  <a:schemeClr val="accent3"/>
                </a:solidFill>
                <a:cs typeface="Biome"/>
              </a:rPr>
              <a:t>vanishing gradient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9611DF-89D3-5997-695C-7D87BCFAE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66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C5B1E-209C-FB07-7FA3-91E83DAE2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EC3CEAA6-D1AB-18D8-82B8-05E2BBA43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662" y="2240762"/>
            <a:ext cx="11562303" cy="238786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>
                <a:cs typeface="Biome Light"/>
              </a:rPr>
              <a:t>Features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4D6683-1A63-D532-1CCE-A487CE6A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899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502F2-0E1E-CFBF-E465-6A7384718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B389-4015-FB07-946A-04D40A031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>
                <a:cs typeface="Biome"/>
              </a:rPr>
              <a:t>Features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B6E2FC5-75E6-DD94-29C0-408A98571317}"/>
              </a:ext>
            </a:extLst>
          </p:cNvPr>
          <p:cNvGraphicFramePr>
            <a:graphicFrameLocks noGrp="1"/>
          </p:cNvGraphicFramePr>
          <p:nvPr>
            <p:ph sz="quarter" idx="31"/>
            <p:extLst>
              <p:ext uri="{D42A27DB-BD31-4B8C-83A1-F6EECF244321}">
                <p14:modId xmlns:p14="http://schemas.microsoft.com/office/powerpoint/2010/main" val="4153693350"/>
              </p:ext>
            </p:extLst>
          </p:nvPr>
        </p:nvGraphicFramePr>
        <p:xfrm>
          <a:off x="3305175" y="2181826"/>
          <a:ext cx="7421562" cy="4587236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473854">
                  <a:extLst>
                    <a:ext uri="{9D8B030D-6E8A-4147-A177-3AD203B41FA5}">
                      <a16:colId xmlns:a16="http://schemas.microsoft.com/office/drawing/2014/main" val="3757677032"/>
                    </a:ext>
                  </a:extLst>
                </a:gridCol>
                <a:gridCol w="2473854">
                  <a:extLst>
                    <a:ext uri="{9D8B030D-6E8A-4147-A177-3AD203B41FA5}">
                      <a16:colId xmlns:a16="http://schemas.microsoft.com/office/drawing/2014/main" val="2935365867"/>
                    </a:ext>
                  </a:extLst>
                </a:gridCol>
                <a:gridCol w="2473854">
                  <a:extLst>
                    <a:ext uri="{9D8B030D-6E8A-4147-A177-3AD203B41FA5}">
                      <a16:colId xmlns:a16="http://schemas.microsoft.com/office/drawing/2014/main" val="3541281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Captures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RNN 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27229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en-US" dirty="0"/>
                        <a:t>Closing Price (Target)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Autoregressive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 time-series </a:t>
                      </a:r>
                      <a:r>
                        <a:rPr lang="en-US"/>
                        <a:t>autoregression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66843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SMA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dirty="0"/>
                        <a:t>Short-Term Trends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Smooths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28886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SMA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dirty="0"/>
                        <a:t>Long-Term Trends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Smooths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447135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dirty="0"/>
                        <a:t>Trade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Adds additional </a:t>
                      </a:r>
                      <a:r>
                        <a:rPr lang="en-US"/>
                        <a:t>contextual information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174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Volume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dirty="0"/>
                        <a:t>Spikes in trade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 Nova"/>
                        </a:rPr>
                        <a:t>Adds additional contextual information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26156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14-Day Relative Strength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dirty="0"/>
                        <a:t>Overbought and Oversold stocks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 Nova"/>
                        </a:rPr>
                        <a:t>Non-linear patterns for model to learn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264044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Moving Average Divergence Convergence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dirty="0"/>
                        <a:t>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Non-linear patterns for model to learn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6356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2809B7-1939-EDD2-72A5-3F14AEC3F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032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CDD85-515D-3B8E-50B5-3E46CACE4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45BC8446-E1C5-B387-BC07-00DB30400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662" y="2240762"/>
            <a:ext cx="11562303" cy="238786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>
                <a:cs typeface="Biome Light"/>
              </a:rPr>
              <a:t>Activation Functions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E184-662F-8874-4378-05C164E9F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308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57FE9-280F-296C-A011-33DC0CA40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E2DC-8C58-6304-5B70-0E0D214A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>
                <a:cs typeface="Biome"/>
              </a:rPr>
              <a:t>Activation Functions: ReLU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2E41C-F9C5-3B51-F9B2-8325224BF5E8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solidFill>
                  <a:srgbClr val="FFFFFF"/>
                </a:solidFill>
                <a:cs typeface="Biome"/>
              </a:rPr>
              <a:t>Benefits of using ReLU for stock prediction: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FFFFFF"/>
                </a:solidFill>
                <a:cs typeface="Biome"/>
              </a:rPr>
              <a:t>Unlike Tanh or Sigmoid, ReLU does not saturate for positive values, mitigating the "vanishing gradient"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solidFill>
                  <a:schemeClr val="accent3"/>
                </a:solidFill>
                <a:cs typeface="Biome"/>
              </a:rPr>
              <a:t>Improved computational efficiency</a:t>
            </a:r>
            <a:r>
              <a:rPr lang="en-US">
                <a:solidFill>
                  <a:srgbClr val="FFFFFF"/>
                </a:solidFill>
                <a:cs typeface="Biome"/>
              </a:rPr>
              <a:t> over other methods</a:t>
            </a:r>
          </a:p>
          <a:p>
            <a:r>
              <a:rPr lang="en-US">
                <a:solidFill>
                  <a:srgbClr val="FFFFFF"/>
                </a:solidFill>
                <a:cs typeface="Biome"/>
              </a:rPr>
              <a:t>Other activation functions:</a:t>
            </a:r>
            <a:endParaRPr lang="en-US">
              <a:solidFill>
                <a:srgbClr val="000000"/>
              </a:solidFill>
              <a:cs typeface="Biome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solidFill>
                <a:srgbClr val="FFFFFF"/>
              </a:solidFill>
              <a:cs typeface="Biom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81D5FA-23FF-B78C-C6DB-DF5F66281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42B92FF-024D-01F2-2B03-F673FD7CA2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7503813"/>
              </p:ext>
            </p:extLst>
          </p:nvPr>
        </p:nvGraphicFramePr>
        <p:xfrm>
          <a:off x="3367216" y="5107459"/>
          <a:ext cx="7307854" cy="148335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334632">
                  <a:extLst>
                    <a:ext uri="{9D8B030D-6E8A-4147-A177-3AD203B41FA5}">
                      <a16:colId xmlns:a16="http://schemas.microsoft.com/office/drawing/2014/main" val="3757677032"/>
                    </a:ext>
                  </a:extLst>
                </a:gridCol>
                <a:gridCol w="3973222">
                  <a:extLst>
                    <a:ext uri="{9D8B030D-6E8A-4147-A177-3AD203B41FA5}">
                      <a16:colId xmlns:a16="http://schemas.microsoft.com/office/drawing/2014/main" val="29353658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Activation Function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Potential </a:t>
                      </a:r>
                      <a:r>
                        <a:rPr lang="en-US"/>
                        <a:t>Disadvantage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27229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Sigmoid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/>
                        <a:t>Saturates for extreme values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66843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Tanh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/>
                        <a:t>Computationally heavier than ReLU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28886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Leaky ReLU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rial Nova"/>
                        </a:rPr>
                        <a:t>Computationally heavier than ReLU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447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344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75B2C-2FEB-CC60-3137-22AABD480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FCA27C5B-08A1-38D1-87C7-A7755207B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662" y="2240762"/>
            <a:ext cx="11562303" cy="238786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>
                <a:cs typeface="Biome Light"/>
              </a:rPr>
              <a:t>Model PErformance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FF9727-205D-C969-9B3E-08527C8E6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083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06768-16E6-A8B2-0395-51B2384BD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2723A-7EF2-9954-EA5C-4625B727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r>
              <a:rPr lang="en-US">
                <a:cs typeface="Biome"/>
              </a:rPr>
              <a:t>Performance: LTSM Loss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3E478C-B03F-AE45-558A-7553ED79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147FE6-DB11-7FAA-E694-AEF40959F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882" y="2482103"/>
            <a:ext cx="9379324" cy="391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29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C33A9-D041-CF85-D602-B4B1E8F9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D5122-CFF9-A686-4948-0AF4F7D76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r>
              <a:rPr lang="en-US">
                <a:cs typeface="Biome"/>
              </a:rPr>
              <a:t>Performance: GRU Loss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EECBF3-7AC9-6754-43F5-2E012D02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FEE74F-9C0E-66F7-49A2-DE0FC853E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882" y="2483504"/>
            <a:ext cx="9379324" cy="390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02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0AED0-4996-F56B-4FE3-1C861FAE7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7D9C8-021D-A2FA-231E-6C8D9B23F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r>
              <a:rPr lang="en-US"/>
              <a:t>Performance: LTSM Prediction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7B9E2E-8584-F6A3-CA0E-9A92141BE1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40" r="358" b="-2"/>
          <a:stretch/>
        </p:blipFill>
        <p:spPr>
          <a:xfrm>
            <a:off x="1609921" y="2297448"/>
            <a:ext cx="8771508" cy="4110823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C09262-8E42-BAB3-7B56-17C204D9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30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F5459-D2FD-A77D-3AF4-A7759E589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0D17-105E-12C7-0321-9E42AC764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r>
              <a:rPr lang="en-US">
                <a:cs typeface="Biome"/>
              </a:rPr>
              <a:t>Performance: GRU Prediction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CEC0DA-E7A5-B5AA-05C2-48F9D61895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77" r="4277"/>
          <a:stretch/>
        </p:blipFill>
        <p:spPr>
          <a:xfrm>
            <a:off x="1609921" y="2297448"/>
            <a:ext cx="8771508" cy="4110823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455EB-8469-6FC6-2373-06F8910F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83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C2987-ED1B-5BE4-C4A1-2D8710952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060DD-5291-154A-2DCC-F81D8B655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>
                <a:cs typeface="Biome"/>
              </a:rPr>
              <a:t>Performance: LTSM vs GRU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329F27-2951-80AF-C560-B3DA7868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890FD0D-3A71-4BD4-E0E8-63BE1308BFF4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3"/>
          <a:stretch>
            <a:fillRect/>
          </a:stretch>
        </p:blipFill>
        <p:spPr>
          <a:xfrm>
            <a:off x="3300368" y="2730807"/>
            <a:ext cx="7425017" cy="2626098"/>
          </a:xfrm>
        </p:spPr>
      </p:pic>
    </p:spTree>
    <p:extLst>
      <p:ext uri="{BB962C8B-B14F-4D97-AF65-F5344CB8AC3E}">
        <p14:creationId xmlns:p14="http://schemas.microsoft.com/office/powerpoint/2010/main" val="3412773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0AC2C-3012-4664-E662-628EF141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6D76B9C1-2C3B-01BE-410B-6E5C94C95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662" y="2240762"/>
            <a:ext cx="11562303" cy="238786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>
                <a:cs typeface="Biome Light"/>
              </a:rPr>
              <a:t>Key Takeaways and Applications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801900-0B82-0AC8-CC94-A62826F94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314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98AFA-1D16-50DE-DE99-145E6EA5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995D0-4AC6-478B-516D-41279869F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>
                <a:cs typeface="Biome"/>
              </a:rPr>
              <a:t>Conclusions: LTSM vs GRU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3A4BF-94E3-8302-D0C0-758358C79A96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cs typeface="Biome"/>
              </a:rPr>
              <a:t>GRU </a:t>
            </a:r>
            <a:r>
              <a:rPr lang="en-US" b="1">
                <a:solidFill>
                  <a:schemeClr val="accent3"/>
                </a:solidFill>
                <a:cs typeface="Biome"/>
              </a:rPr>
              <a:t>outperformed </a:t>
            </a:r>
            <a:r>
              <a:rPr lang="en-US">
                <a:cs typeface="Biome"/>
              </a:rPr>
              <a:t>the LTSM model on NVIDIA stock prediction</a:t>
            </a:r>
            <a:endParaRPr lang="en-US"/>
          </a:p>
          <a:p>
            <a:endParaRPr lang="en-US" dirty="0">
              <a:cs typeface="Biome"/>
            </a:endParaRPr>
          </a:p>
          <a:p>
            <a:r>
              <a:rPr lang="en-US">
                <a:cs typeface="Biome"/>
              </a:rPr>
              <a:t>Why is this?</a:t>
            </a:r>
            <a:endParaRPr lang="en-US" dirty="0">
              <a:cs typeface="Biome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Biome"/>
              </a:rPr>
              <a:t>GRU can have comperable performance to LTSM on smaller datasets (Chung et al. (2014))</a:t>
            </a:r>
            <a:endParaRPr lang="en-US" dirty="0">
              <a:cs typeface="Biome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Biome"/>
              </a:rPr>
              <a:t>GRUs adapt to changes in data faster than LTSMs, and NVIDIA is a volitile stock</a:t>
            </a:r>
            <a:endParaRPr lang="en-US" dirty="0">
              <a:cs typeface="Biom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3F4179-416F-0CBC-B548-643AB969A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352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A40E8-2E2F-5C55-A322-49C9FB7EF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D7123-CAD2-8DD4-3E3D-4592DFFC0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>
                <a:cs typeface="Biome"/>
              </a:rPr>
              <a:t>Conclusions: LTSM vs GRU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68D16-D6BB-648E-21B9-04092ADB2C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cs typeface="Biome"/>
              </a:rPr>
              <a:t>GRU was </a:t>
            </a:r>
            <a:r>
              <a:rPr lang="en-US" b="1">
                <a:solidFill>
                  <a:schemeClr val="accent3"/>
                </a:solidFill>
                <a:cs typeface="Biome"/>
              </a:rPr>
              <a:t>slower </a:t>
            </a:r>
            <a:r>
              <a:rPr lang="en-US">
                <a:cs typeface="Biome"/>
              </a:rPr>
              <a:t>than LTSM</a:t>
            </a:r>
            <a:endParaRPr lang="en-US"/>
          </a:p>
          <a:p>
            <a:endParaRPr lang="en-US" dirty="0">
              <a:cs typeface="Biome"/>
            </a:endParaRPr>
          </a:p>
          <a:p>
            <a:r>
              <a:rPr lang="en-US">
                <a:cs typeface="Biome"/>
              </a:rPr>
              <a:t>Why is this?</a:t>
            </a:r>
            <a:endParaRPr lang="en-US" dirty="0">
              <a:cs typeface="Biome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Biome"/>
              </a:rPr>
              <a:t>Early stopping: GRU was trained for more epochs than LTSM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Biome"/>
              </a:rPr>
              <a:t>GRUs adapt to changes in data faster than LTSMs, and NVIDIA is a volitile stock</a:t>
            </a:r>
            <a:endParaRPr lang="en-US" dirty="0">
              <a:cs typeface="Biom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1B03C3-48E2-C7F4-218F-3BAECE5A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680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49263-1DA6-C170-DA6E-CDDBBC716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0DC9-4E97-0E13-EA39-9D3611E0F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>
                <a:cs typeface="Biome"/>
              </a:rPr>
              <a:t>Conclusions: Applications of </a:t>
            </a:r>
            <a:r>
              <a:rPr lang="en-US">
                <a:cs typeface="Biome"/>
              </a:rPr>
              <a:t>my Model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938BE-67A6-736A-E471-DF31F2A0E1D0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cs typeface="Biome"/>
              </a:rPr>
              <a:t>Would I use my models in a real world-scenerio? </a:t>
            </a:r>
            <a:r>
              <a:rPr lang="en-US" b="1">
                <a:solidFill>
                  <a:schemeClr val="accent3"/>
                </a:solidFill>
                <a:cs typeface="Biome"/>
              </a:rPr>
              <a:t>No</a:t>
            </a:r>
          </a:p>
          <a:p>
            <a:endParaRPr lang="en-US" dirty="0">
              <a:cs typeface="Biome"/>
            </a:endParaRPr>
          </a:p>
          <a:p>
            <a:r>
              <a:rPr lang="en-US">
                <a:cs typeface="Biome"/>
              </a:rPr>
              <a:t>Better models exist</a:t>
            </a:r>
            <a:endParaRPr lang="en-US" dirty="0">
              <a:cs typeface="Biome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Biome"/>
              </a:rPr>
              <a:t>In 2024 a group of computer scientists created a LSTM that predicted HFDC stock with a MAE value of 0.21 (Barua et al. (2024))</a:t>
            </a:r>
          </a:p>
          <a:p>
            <a:pPr marL="457200" lvl="1" indent="0">
              <a:buNone/>
            </a:pPr>
            <a:endParaRPr lang="en-US" dirty="0">
              <a:cs typeface="Biome"/>
            </a:endParaRPr>
          </a:p>
          <a:p>
            <a:r>
              <a:rPr lang="en-US" b="1">
                <a:solidFill>
                  <a:schemeClr val="accent3"/>
                </a:solidFill>
                <a:cs typeface="Biome"/>
              </a:rPr>
              <a:t>Transformers </a:t>
            </a:r>
            <a:r>
              <a:rPr lang="en-US">
                <a:cs typeface="Biome"/>
              </a:rPr>
              <a:t>might create a more reliable model (long term)</a:t>
            </a:r>
            <a:endParaRPr lang="en-US">
              <a:solidFill>
                <a:srgbClr val="000000"/>
              </a:solidFill>
              <a:cs typeface="Biome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Biome"/>
            </a:endParaRPr>
          </a:p>
          <a:p>
            <a:pPr marL="457200" lvl="1" indent="0">
              <a:buNone/>
            </a:pPr>
            <a:endParaRPr lang="en-US" dirty="0">
              <a:cs typeface="Biome"/>
            </a:endParaRPr>
          </a:p>
          <a:p>
            <a:pPr marL="457200" lvl="1" indent="0">
              <a:buNone/>
            </a:pPr>
            <a:endParaRPr lang="en-US" dirty="0">
              <a:cs typeface="Biom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C2A168-97D5-C290-72B4-9A5CF9B1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083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47383-80BE-35C6-AB9E-BBF6FCF33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Biome"/>
              </a:rPr>
              <a:t>Conclusions: Next steps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4B5BA-0B53-ED05-3821-01BF1A8B4B42}"/>
              </a:ext>
            </a:extLst>
          </p:cNvPr>
          <p:cNvSpPr>
            <a:spLocks noGrp="1"/>
          </p:cNvSpPr>
          <p:nvPr>
            <p:ph sz="quarter" idx="3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cs typeface="Biome"/>
              </a:rPr>
              <a:t>Additional Testing, hyper parameter tuning</a:t>
            </a:r>
            <a:endParaRPr lang="en-US" dirty="0">
              <a:cs typeface="Biome"/>
            </a:endParaRPr>
          </a:p>
          <a:p>
            <a:endParaRPr lang="en-US" dirty="0">
              <a:cs typeface="Biome"/>
            </a:endParaRPr>
          </a:p>
          <a:p>
            <a:r>
              <a:rPr lang="en-US">
                <a:cs typeface="Biome"/>
              </a:rPr>
              <a:t>Exploit NVIDIA's volitility with new features (Bollinger Band Width)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9463B-E41C-2C11-871C-7B9E1A17D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01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cs typeface="Biome"/>
              </a:rPr>
              <a:t>Austin Carnline</a:t>
            </a:r>
            <a:endParaRPr lang="en-US"/>
          </a:p>
          <a:p>
            <a:r>
              <a:rPr lang="en-US">
                <a:cs typeface="Biome"/>
              </a:rPr>
              <a:t>Lcarnline@smu.edu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430</Words>
  <Application>Microsoft Office PowerPoint</Application>
  <PresentationFormat>Widescreen</PresentationFormat>
  <Paragraphs>133</Paragraphs>
  <Slides>25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Custom</vt:lpstr>
      <vt:lpstr>CS 5393 Final</vt:lpstr>
      <vt:lpstr>Agenda</vt:lpstr>
      <vt:lpstr>PowerPoint Presentation</vt:lpstr>
      <vt:lpstr>Project Overview</vt:lpstr>
      <vt:lpstr>Project Overview: Evaluation Metrics</vt:lpstr>
      <vt:lpstr>Project Overview: Tools</vt:lpstr>
      <vt:lpstr>PowerPoint Presentation</vt:lpstr>
      <vt:lpstr>LTSM vs GRU Models</vt:lpstr>
      <vt:lpstr>LTSM vs GRU Models</vt:lpstr>
      <vt:lpstr>PowerPoint Presentation</vt:lpstr>
      <vt:lpstr>Features</vt:lpstr>
      <vt:lpstr>PowerPoint Presentation</vt:lpstr>
      <vt:lpstr>Activation Functions: ReLU</vt:lpstr>
      <vt:lpstr>PowerPoint Presentation</vt:lpstr>
      <vt:lpstr>Performance: LTSM Loss</vt:lpstr>
      <vt:lpstr>Performance: GRU Loss</vt:lpstr>
      <vt:lpstr>Performance: LTSM Prediction</vt:lpstr>
      <vt:lpstr>Performance: GRU Prediction</vt:lpstr>
      <vt:lpstr>Performance: LTSM vs GRU</vt:lpstr>
      <vt:lpstr>PowerPoint Presentation</vt:lpstr>
      <vt:lpstr>Conclusions: LTSM vs GRU</vt:lpstr>
      <vt:lpstr>Conclusions: LTSM vs GRU</vt:lpstr>
      <vt:lpstr>Conclusions: Applications of my Model</vt:lpstr>
      <vt:lpstr>Conclusions: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564</cp:revision>
  <dcterms:created xsi:type="dcterms:W3CDTF">2025-05-01T04:04:32Z</dcterms:created>
  <dcterms:modified xsi:type="dcterms:W3CDTF">2025-05-01T09:54:08Z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